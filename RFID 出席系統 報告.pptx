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502920"/>
            <a:ext cx="1645920" cy="164592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📡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"/>
            <a:ext cx="32918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57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介面技術實務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0515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RFID 學生出席系統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結合 Google 試算表 與 LCD 即時顯示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3200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603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課程名稱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37360" y="2560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D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：介面技術實務 — 電資四實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8620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授課教師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28620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D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：王旭志 教授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1638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　　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37360" y="316382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D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：s121170906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4655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報告日期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37360" y="346557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D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：2026年3月20日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192B"/>
          </a:solidFill>
          <a:ln w="12700">
            <a:solidFill>
              <a:srgbClr val="061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9E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學生出席自動化系統　|　ESP32 × PN532 × LCD 1602 × Google Sheets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報告大綱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1234440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23444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專案簡介與目標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19656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19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1819656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181965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硬體架構與元件說明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40487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04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2404872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51560" y="240487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腳位連接說明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9008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90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05840" y="2990088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51560" y="299008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軟體設計 — ESP32 程式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23444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94960" y="1234440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40680" y="123444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軟體設計 — Google Apps Script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819656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819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394960" y="1819656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40680" y="181965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系統運作流程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240487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404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94960" y="2404872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40680" y="240487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LCD 顯示畫面說明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46320" y="299008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990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394960" y="2990088"/>
            <a:ext cx="3749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40680" y="299008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結論與未來展望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　專案簡介與目標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3566160"/>
          </a:xfrm>
          <a:prstGeom prst="rect">
            <a:avLst/>
          </a:prstGeom>
          <a:solidFill>
            <a:srgbClr val="FDEDEC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393192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 傳統點名的問題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・耗費大量課堂時間逐一點名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・容易發生代替點名（幽靈出席）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・紙本記錄容易遺失或出錯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・統計出席率需要人工計算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・學生無法即時查詢自己的出席記錄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931920" cy="3566160"/>
          </a:xfrm>
          <a:prstGeom prst="rect">
            <a:avLst/>
          </a:prstGeom>
          <a:solidFill>
            <a:srgbClr val="D5F5E3"/>
          </a:solidFill>
          <a:ln w="1905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3931920" cy="5486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887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 本系統解決方案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82880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・RFID 刷卡 &lt; 1 秒完成點名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・每張卡對應唯一學生，防止代刷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・記錄自動上傳 Google 試算表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・Gmail 自動寄出出席通知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・學生可透過個人連結查詢記錄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25112" y="2606040"/>
            <a:ext cx="493776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5112" y="26060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　硬體架構與元件說明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55448" y="1170432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" y="1170432"/>
            <a:ext cx="2788920" cy="731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" y="126187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46888" y="18562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ESP32 開發板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" y="21762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主控制器，處理 WiFi 連線、RFID 讀取、HTTP 請求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99816" y="1170432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99816" y="1170432"/>
            <a:ext cx="27889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9816" y="126187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📡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191256" y="18562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PN532 NFC/RFID 模組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91256" y="21762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 SPI 介面讀取 Mifare 1K 感應卡 UID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44184" y="1170432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44184" y="1170432"/>
            <a:ext cx="2788920" cy="7315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44184" y="126187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🖵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35624" y="18562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LCD 1602 I2C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35624" y="21762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即時顯示學號與打卡時間，I2C 位址 0x27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5448" y="2953512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55448" y="2953512"/>
            <a:ext cx="2788920" cy="73152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" y="304495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💡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46888" y="363931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RGB LED（共陰極）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" y="395935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以不同顏色指示系統狀態（進入/離開/登記/錯誤）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99816" y="2953512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099816" y="2953512"/>
            <a:ext cx="2788920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99816" y="304495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🔔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3191256" y="363931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主動式蜂鳴器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191256" y="395935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聲音回饋：點名成功 2 聲、錯誤 3 聲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44184" y="2953512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44184" y="2953512"/>
            <a:ext cx="27889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44184" y="304495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🔘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135624" y="363931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按鈕 × 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35624" y="395935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GPIO14 切換登記模式、GPIO15 切換進入/離開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　腳位連接說明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8595360" cy="384048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2103120"/>
                <a:gridCol w="38404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元件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模組腳位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ESP32 GPIO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備　　　註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PN532 NFC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GPIO 18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SPI 時鐘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PN532 NFC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MISO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GPIO 19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SPI 資料輸出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PN532 NFC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MOSI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GPIO 23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SPI 資料輸入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PN532 NFC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SS / CS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GPIO 16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SPI 片選（DIP: SEL0=OFF, SEL1=ON）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LCD 1602 I2C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SDA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GPIO 21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I2C 資料線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LCD 1602 I2C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GPIO 22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I2C 時鐘線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RGB LED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 / G / B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GPIO 25 / 26 / 27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需串接 220Ω 電阻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蜂鳴器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GPIO 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主動式蜂鳴器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按鈕 VÀO/RA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GPIO 15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另一端接 GND，內部上拉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按鈕 ĐĂNG KÝ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GPIO 14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另一端接 GND，內部上拉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　軟體設計 — ESP32 程式架構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43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 使用函式庫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8191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Adafruit_PN532　</a:t>
            </a:r>
            <a:pPr indent="0" marL="0">
              <a:buNone/>
            </a:pPr>
            <a:r>
              <a:rPr lang="en-US" sz="1100" dirty="0">
                <a:solidFill>
                  <a:srgbClr val="AECD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讀取 RFID 卡片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LiquidCrystal_I2C　</a:t>
            </a:r>
            <a:pPr indent="0" marL="0">
              <a:buNone/>
            </a:pPr>
            <a:r>
              <a:rPr lang="en-US" sz="1100" dirty="0">
                <a:solidFill>
                  <a:srgbClr val="AECD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控制 LCD 顯示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HTTPClient / WiFi　</a:t>
            </a:r>
            <a:pPr indent="0" marL="0">
              <a:buNone/>
            </a:pPr>
            <a:r>
              <a:rPr lang="en-US" sz="1100" dirty="0">
                <a:solidFill>
                  <a:srgbClr val="AECD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傳送資料至 GAS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143000"/>
            <a:ext cx="91440" cy="96012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19786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登記模式（GPIO14 一按）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52704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刷新卡 → RFID 自動寫入 Google 試算表 B 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老師再手動填入姓名、學號、Email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167128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2167128"/>
            <a:ext cx="91440" cy="9601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2219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出席模式 — 進入（LED 綠）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551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刷卡 → 比對名單 → 上傳打卡記錄 → LCD 顯示學號 + 時間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191256"/>
            <a:ext cx="4297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3191256"/>
            <a:ext cx="91440" cy="96012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246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出席模式 — 離開（LED 黃）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575304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GPIO15 切換 → 刷卡 → 記錄離開時間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240280"/>
            <a:ext cx="4114800" cy="2560320"/>
          </a:xfrm>
          <a:prstGeom prst="rect">
            <a:avLst/>
          </a:prstGeom>
          <a:solidFill>
            <a:srgbClr val="EBF5FB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⏰  NTP 時間同步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269748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・WiFi 連線成功後自動執行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・伺服器：pool.ntp.org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・時區：UTC+7（越南）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・成功後 LCD 可顯示真實時間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・失敗時以 millis() 秒數代替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206240"/>
            <a:ext cx="8595360" cy="7498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42245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LED RGB 狀態對照：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94560" y="42428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CD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🟢 綠 等待進入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83280" y="42428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CD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🟡 黃 等待離開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0" y="42428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CD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⚪ 白 登記模式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760720" y="42428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CD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🔵 藍 資料傳送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49440" y="42428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CD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🔴 紅 錯誤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38160" y="42428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CD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🟣 紫 PN532故障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　軟體設計 — Google Apps Script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📊  Google 試算表結構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0020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57200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工作表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欄位內容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填入方式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學生名單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A:編號　B:RFID卡號　C:姓名　D:學號　E:電子郵件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B欄自動填入，C/D/E由老師手動輸入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出席記錄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34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A:日期　B:時間　C:RFID卡號　D:姓名　E:狀態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刷卡後由 GAS 自動記錄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2670048"/>
            <a:ext cx="2834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2670048"/>
            <a:ext cx="283464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67004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📖  ?sts=read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3310128"/>
            <a:ext cx="261518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讀取學生名單傳回 ESP32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回傳格式：編號,卡號,姓名,學號,...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（Email 保留在伺服器端，不外傳）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18688" y="2670048"/>
            <a:ext cx="2834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18688" y="2670048"/>
            <a:ext cx="2834640" cy="59436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64408" y="267004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✍️  ?sts=registercard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28416" y="3310128"/>
            <a:ext cx="261518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登記新卡號到試算表 B 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若已存在則回傳 DUPLICATE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老師事後補填姓名、學號、Email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63056" y="2670048"/>
            <a:ext cx="2834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63056" y="2670048"/>
            <a:ext cx="2834640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08776" y="267004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📝  ?sts=writelog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72784" y="3310128"/>
            <a:ext cx="2615184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寫入出席記錄 + 寄 Gmail 通知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進入：綠色底色　離開：橘色底色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 含個人出席查詢連結 🔒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FEF9E7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🔒  個人查詢：?sts=mystats&amp;studentid=學號　→　學生只能看到自己的出席記錄，無法查看他人資料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　系統運作流程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55448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43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🔌 開機啟動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70432" y="1527048"/>
            <a:ext cx="36576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63677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▼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719072"/>
            <a:ext cx="155448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7190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📶 連接 WiFi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70432" y="2103120"/>
            <a:ext cx="36576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2128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295144"/>
            <a:ext cx="155448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2951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⏰ NTP 時間同步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70432" y="2679192"/>
            <a:ext cx="36576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7889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2871216"/>
            <a:ext cx="155448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28712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📋 載入學生名單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70432" y="3255264"/>
            <a:ext cx="36576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3649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447288"/>
            <a:ext cx="155448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34472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⏳ 等待刷卡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70432" y="3831336"/>
            <a:ext cx="36576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394106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4023360"/>
            <a:ext cx="155448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40233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📡 偵測 RFID 卡片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170432" y="4407408"/>
            <a:ext cx="36576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4526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4636008"/>
            <a:ext cx="1554480" cy="41148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1480" y="46360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卡號在名單中？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65960" y="4754880"/>
            <a:ext cx="320040" cy="3657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65960" y="463600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449"/>
                </a:solidFill>
              </a:rPr>
              <a:t>是 ✅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0" y="4224528"/>
            <a:ext cx="155448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286000" y="42245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☁️ 上傳出席記錄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44952" y="4023360"/>
            <a:ext cx="36576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39959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▲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0" y="3657600"/>
            <a:ext cx="155448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286000" y="3657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📧 寄送 Gmail 通知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44952" y="3456432"/>
            <a:ext cx="36576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0" y="34290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▲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86000" y="3090672"/>
            <a:ext cx="1554480" cy="38404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286000" y="30906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📺 LCD 顯示學號+時間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044952" y="2889504"/>
            <a:ext cx="36576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0" y="28620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▲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86000" y="2523744"/>
            <a:ext cx="1554480" cy="3840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286000" y="25237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完成 → 回到等待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044952" y="4636008"/>
            <a:ext cx="36576" cy="2011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65960" y="4818888"/>
            <a:ext cx="370332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65960" y="4818888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否 ❌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0" y="4636008"/>
            <a:ext cx="155448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114800" y="46360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卡片未登記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LCD 顯示錯誤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943600" y="1143000"/>
            <a:ext cx="2834640" cy="3566160"/>
          </a:xfrm>
          <a:prstGeom prst="rect">
            <a:avLst/>
          </a:prstGeom>
          <a:solidFill>
            <a:srgbClr val="EBF5FB"/>
          </a:solidFill>
          <a:ln w="12700">
            <a:solidFill>
              <a:srgbClr val="D4E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943600" y="1143000"/>
            <a:ext cx="2834640" cy="43891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11430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🔘 按鈕操作流程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035040" y="1645920"/>
            <a:ext cx="2651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GPIO 14（一按）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切換至【登記模式】（LED 白）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刷新卡 → RFID 自動上傳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再按一次 → 回到出席模式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GPIO 15（切換）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出席模式中切換進入／離開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進入 LED 🟢　離開 LED 🟡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　LCD 1602 顯示畫面說明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01168" y="11704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3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開機啟動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444752"/>
            <a:ext cx="3977640" cy="1005840"/>
          </a:xfrm>
          <a:prstGeom prst="rect">
            <a:avLst/>
          </a:prstGeom>
          <a:solidFill>
            <a:srgbClr val="1A1A1A"/>
          </a:solidFill>
          <a:ln w="19050">
            <a:solidFill>
              <a:srgbClr val="5555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10896" y="1554480"/>
            <a:ext cx="3749040" cy="786384"/>
          </a:xfrm>
          <a:prstGeom prst="rect">
            <a:avLst/>
          </a:prstGeom>
          <a:solidFill>
            <a:srgbClr val="3D6B3D"/>
          </a:solidFill>
          <a:ln w="12700">
            <a:solidFill>
              <a:srgbClr val="2D5B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57276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RFID System    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9202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Initializing...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11704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WiFi 連線成功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83480" y="1444752"/>
            <a:ext cx="3977640" cy="1005840"/>
          </a:xfrm>
          <a:prstGeom prst="rect">
            <a:avLst/>
          </a:prstGeom>
          <a:solidFill>
            <a:srgbClr val="1A1A1A"/>
          </a:solidFill>
          <a:ln w="19050">
            <a:solidFill>
              <a:srgbClr val="5555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93208" y="1554480"/>
            <a:ext cx="3749040" cy="786384"/>
          </a:xfrm>
          <a:prstGeom prst="rect">
            <a:avLst/>
          </a:prstGeom>
          <a:solidFill>
            <a:srgbClr val="3D6B3D"/>
          </a:solidFill>
          <a:ln w="12700">
            <a:solidFill>
              <a:srgbClr val="2D5B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57276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WiFi: OK       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192024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192.168.1.xxx  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" y="215798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WiFi 連線失敗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1168" y="2432304"/>
            <a:ext cx="3977640" cy="1005840"/>
          </a:xfrm>
          <a:prstGeom prst="rect">
            <a:avLst/>
          </a:prstGeom>
          <a:solidFill>
            <a:srgbClr val="1A1A1A"/>
          </a:solidFill>
          <a:ln w="19050">
            <a:solidFill>
              <a:srgbClr val="5555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0896" y="2542032"/>
            <a:ext cx="3749040" cy="786384"/>
          </a:xfrm>
          <a:prstGeom prst="rect">
            <a:avLst/>
          </a:prstGeom>
          <a:solidFill>
            <a:srgbClr val="3D6B3D"/>
          </a:solidFill>
          <a:ln w="12700">
            <a:solidFill>
              <a:srgbClr val="2D5B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56032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WiFi: FAILED!  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" y="290779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settings..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15798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名單載入成功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83480" y="2432304"/>
            <a:ext cx="3977640" cy="1005840"/>
          </a:xfrm>
          <a:prstGeom prst="rect">
            <a:avLst/>
          </a:prstGeom>
          <a:solidFill>
            <a:srgbClr val="1A1A1A"/>
          </a:solidFill>
          <a:ln w="19050">
            <a:solidFill>
              <a:srgbClr val="5555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93208" y="2542032"/>
            <a:ext cx="3749040" cy="786384"/>
          </a:xfrm>
          <a:prstGeom prst="rect">
            <a:avLst/>
          </a:prstGeom>
          <a:solidFill>
            <a:srgbClr val="3D6B3D"/>
          </a:solidFill>
          <a:ln w="12700">
            <a:solidFill>
              <a:srgbClr val="2D5B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56032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list: OK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290779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students    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" y="31455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4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等待打卡（進入）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01168" y="3419856"/>
            <a:ext cx="3977640" cy="1005840"/>
          </a:xfrm>
          <a:prstGeom prst="rect">
            <a:avLst/>
          </a:prstGeom>
          <a:solidFill>
            <a:srgbClr val="1A1A1A"/>
          </a:solidFill>
          <a:ln w="19050">
            <a:solidFill>
              <a:srgbClr val="5555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0896" y="3529584"/>
            <a:ext cx="3749040" cy="786384"/>
          </a:xfrm>
          <a:prstGeom prst="rect">
            <a:avLst/>
          </a:prstGeom>
          <a:solidFill>
            <a:srgbClr val="3D6B3D"/>
          </a:solidFill>
          <a:ln w="12700">
            <a:solidFill>
              <a:srgbClr val="2D5B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" y="354787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CHECK IN  &lt;&lt; 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" y="389534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to attend  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31455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C0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等待打卡（離開）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83480" y="3419856"/>
            <a:ext cx="3977640" cy="1005840"/>
          </a:xfrm>
          <a:prstGeom prst="rect">
            <a:avLst/>
          </a:prstGeom>
          <a:solidFill>
            <a:srgbClr val="1A1A1A"/>
          </a:solidFill>
          <a:ln w="19050">
            <a:solidFill>
              <a:srgbClr val="5555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93208" y="3529584"/>
            <a:ext cx="3749040" cy="786384"/>
          </a:xfrm>
          <a:prstGeom prst="rect">
            <a:avLst/>
          </a:prstGeom>
          <a:solidFill>
            <a:srgbClr val="3D6B3D"/>
          </a:solidFill>
          <a:ln w="12700">
            <a:solidFill>
              <a:srgbClr val="2D5B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354787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CHECK OUT &lt;&lt;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0640" y="389534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to attend  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01168" y="41330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3C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打卡成功 ✅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01168" y="4407408"/>
            <a:ext cx="3977640" cy="1005840"/>
          </a:xfrm>
          <a:prstGeom prst="rect">
            <a:avLst/>
          </a:prstGeom>
          <a:solidFill>
            <a:srgbClr val="1A1A1A"/>
          </a:solidFill>
          <a:ln w="19050">
            <a:solidFill>
              <a:srgbClr val="5555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0896" y="4517136"/>
            <a:ext cx="3749040" cy="786384"/>
          </a:xfrm>
          <a:prstGeom prst="rect">
            <a:avLst/>
          </a:prstGeom>
          <a:solidFill>
            <a:srgbClr val="3D6B3D"/>
          </a:solidFill>
          <a:ln w="12700">
            <a:solidFill>
              <a:srgbClr val="2D5B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" y="453542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s121170906      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8328" y="488289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08:35:12 18/03  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83480" y="41330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卡片未登記 ❌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983480" y="4407408"/>
            <a:ext cx="3977640" cy="1005840"/>
          </a:xfrm>
          <a:prstGeom prst="rect">
            <a:avLst/>
          </a:prstGeom>
          <a:solidFill>
            <a:srgbClr val="1A1A1A"/>
          </a:solidFill>
          <a:ln w="19050">
            <a:solidFill>
              <a:srgbClr val="5555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093208" y="4517136"/>
            <a:ext cx="3749040" cy="786384"/>
          </a:xfrm>
          <a:prstGeom prst="rect">
            <a:avLst/>
          </a:prstGeom>
          <a:solidFill>
            <a:srgbClr val="3D6B3D"/>
          </a:solidFill>
          <a:ln w="12700">
            <a:solidFill>
              <a:srgbClr val="2D5B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0" y="453542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not found! 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20640" y="488289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A3F2B1C4        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　結論與未來展望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22860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 專案成果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5F5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RFID 刷卡點名，反應時間 &lt; 1 秒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5F5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出席記錄自動同步至 Google 試算表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5F5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LCD 即時顯示學號與打卡時間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5F5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Gmail 自動寄出出席通知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5F5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個人出席查詢網頁（隱私保護）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5F5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支援最多 30 位學生名單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344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C0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 現有限制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371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AD7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MAX_STUDENTS 上限為 30 人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AD7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需要穩定的 WiFi 網路環境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AD7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LCD 僅支援 ASCII 字元（不顯示中文）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AD7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無斷線重連機制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3063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D4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🚀  未來展望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347472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B3E5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增加 RTC 模組，支援離線點名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B3E5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擴充至 OLED 顯示器（支援中文）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B3E5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加入人臉辨識雙重驗證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B3E5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開發 LINE Bot 即時通知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3931920" cy="1115568"/>
          </a:xfrm>
          <a:prstGeom prst="rect">
            <a:avLst/>
          </a:prstGeom>
          <a:solidFill>
            <a:srgbClr val="028090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767328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本專案成功整合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ESP32 × RFID × LCD × Google Sheets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實現智慧化學生出席管理系統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192B"/>
          </a:solidFill>
          <a:ln w="12700">
            <a:solidFill>
              <a:srgbClr val="061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4846320"/>
            <a:ext cx="877824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9E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介面技術實務　|　電資四實　|　指導教師：王旭志 教授　|　學號：s121170906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RFID學生出席系統報告</dc:title>
  <dc:subject>PptxGenJS Presentation</dc:subject>
  <dc:creator>PptxGenJS</dc:creator>
  <cp:lastModifiedBy>PptxGenJS</cp:lastModifiedBy>
  <cp:revision>1</cp:revision>
  <dcterms:created xsi:type="dcterms:W3CDTF">2026-03-20T20:07:06Z</dcterms:created>
  <dcterms:modified xsi:type="dcterms:W3CDTF">2026-03-20T20:07:06Z</dcterms:modified>
</cp:coreProperties>
</file>